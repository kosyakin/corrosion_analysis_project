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10"/>
  </p:notesMasterIdLst>
  <p:sldIdLst>
    <p:sldId id="258" r:id="rId2"/>
    <p:sldId id="261" r:id="rId3"/>
    <p:sldId id="268" r:id="rId4"/>
    <p:sldId id="259" r:id="rId5"/>
    <p:sldId id="262" r:id="rId6"/>
    <p:sldId id="269" r:id="rId7"/>
    <p:sldId id="271" r:id="rId8"/>
    <p:sldId id="267" r:id="rId9"/>
  </p:sldIdLst>
  <p:sldSz cx="12192000" cy="6858000"/>
  <p:notesSz cx="6858000" cy="9144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Roboto Condensed" panose="02000000000000000000" pitchFamily="2" charset="0"/>
      <p:regular r:id="rId15"/>
      <p:bold r:id="rId16"/>
      <p:italic r:id="rId17"/>
      <p:boldItalic r:id="rId18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443ED59-20C7-4FDF-8DCA-8A14D1AA1C8C}" name="Microsoft Office User" initials="MOU" userId="Microsoft Office User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46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3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240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microsoft.com/office/2018/10/relationships/authors" Target="authors.xml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E7EFF5-45D7-44FE-BFF5-61A3E06B4245}" type="datetimeFigureOut">
              <a:rPr lang="ru-RU" smtClean="0"/>
              <a:t>23.11.2025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D90BF0-9B09-41AD-B180-93AF1CAF989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45056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и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>
            <a:extLst>
              <a:ext uri="{FF2B5EF4-FFF2-40B4-BE49-F238E27FC236}">
                <a16:creationId xmlns:a16="http://schemas.microsoft.com/office/drawing/2014/main" id="{DE740D8D-FBE9-45AD-95F5-A12BE687B0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7500"/>
          <a:stretch/>
        </p:blipFill>
        <p:spPr>
          <a:xfrm>
            <a:off x="0" y="1633219"/>
            <a:ext cx="7619998" cy="2366945"/>
          </a:xfrm>
          <a:prstGeom prst="rect">
            <a:avLst/>
          </a:prstGeom>
        </p:spPr>
      </p:pic>
      <p:sp>
        <p:nvSpPr>
          <p:cNvPr id="13" name="Текст 12">
            <a:extLst>
              <a:ext uri="{FF2B5EF4-FFF2-40B4-BE49-F238E27FC236}">
                <a16:creationId xmlns:a16="http://schemas.microsoft.com/office/drawing/2014/main" id="{C21F1BD2-5558-4E07-B786-DF4B7CBE7B9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099" y="1719740"/>
            <a:ext cx="5400000" cy="1116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ПРИВЕТСТВУЕМ, ФИНАЛИСТ!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8B76E3C-07A4-4AED-929B-0114068E6FE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537" y="16885"/>
            <a:ext cx="2286001" cy="1428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256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елый слайд_пусто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833" y="254682"/>
            <a:ext cx="2007337" cy="524083"/>
          </a:xfrm>
          <a:prstGeom prst="rect">
            <a:avLst/>
          </a:prstGeom>
        </p:spPr>
      </p:pic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856CA69-ECB4-4D44-BF51-128717D997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764" y="0"/>
            <a:ext cx="7055318" cy="981778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6" name="Текст 6">
            <a:extLst>
              <a:ext uri="{FF2B5EF4-FFF2-40B4-BE49-F238E27FC236}">
                <a16:creationId xmlns:a16="http://schemas.microsoft.com/office/drawing/2014/main" id="{EF2B7133-3798-48BD-9554-C21FA6E8CC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9764" y="1221483"/>
            <a:ext cx="5328000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rgbClr val="1A468D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92BBED-4AE2-450E-9014-CCF0A18CBFAA}"/>
              </a:ext>
            </a:extLst>
          </p:cNvPr>
          <p:cNvSpPr txBox="1"/>
          <p:nvPr userDrawn="1"/>
        </p:nvSpPr>
        <p:spPr>
          <a:xfrm>
            <a:off x="10922804" y="6502400"/>
            <a:ext cx="880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8C0BBA5-A3A7-4401-B4AA-CCF1A2E5CC4D}" type="slidenum">
              <a:rPr lang="ru-RU" sz="1400" smtClean="0">
                <a:solidFill>
                  <a:schemeClr val="bg1"/>
                </a:solidFill>
              </a:rPr>
              <a:pPr algn="r"/>
              <a:t>‹#›</a:t>
            </a:fld>
            <a:endParaRPr lang="ru-RU" sz="1400" dirty="0">
              <a:solidFill>
                <a:schemeClr val="bg1"/>
              </a:solidFill>
            </a:endParaRP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CF3D2B62-61A1-40A3-A256-8D3F1E546B1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40566" y="254682"/>
            <a:ext cx="1007239" cy="499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380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елый слайд_колонка и рисуно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833" y="254682"/>
            <a:ext cx="2007337" cy="524083"/>
          </a:xfrm>
          <a:prstGeom prst="rect">
            <a:avLst/>
          </a:prstGeom>
        </p:spPr>
      </p:pic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856CA69-ECB4-4D44-BF51-128717D997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764" y="0"/>
            <a:ext cx="7055318" cy="981778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6" name="Текст 6">
            <a:extLst>
              <a:ext uri="{FF2B5EF4-FFF2-40B4-BE49-F238E27FC236}">
                <a16:creationId xmlns:a16="http://schemas.microsoft.com/office/drawing/2014/main" id="{EF2B7133-3798-48BD-9554-C21FA6E8CC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9764" y="1221483"/>
            <a:ext cx="5501975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rgbClr val="1A468D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Текст 9">
            <a:extLst>
              <a:ext uri="{FF2B5EF4-FFF2-40B4-BE49-F238E27FC236}">
                <a16:creationId xmlns:a16="http://schemas.microsoft.com/office/drawing/2014/main" id="{3A2AB07C-6B49-4477-85E9-64DB38E529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9764" y="1703712"/>
            <a:ext cx="5502694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1A468D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sp>
        <p:nvSpPr>
          <p:cNvPr id="19" name="Рисунок 18">
            <a:extLst>
              <a:ext uri="{FF2B5EF4-FFF2-40B4-BE49-F238E27FC236}">
                <a16:creationId xmlns:a16="http://schemas.microsoft.com/office/drawing/2014/main" id="{AE8EC66D-135E-407B-8726-88413FBEA81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19824" y="1220788"/>
            <a:ext cx="5452412" cy="5035550"/>
          </a:xfrm>
          <a:prstGeom prst="rect">
            <a:avLst/>
          </a:prstGeom>
        </p:spPr>
        <p:txBody>
          <a:bodyPr anchor="b" anchorCtr="1"/>
          <a:lstStyle>
            <a:lvl1pPr marL="0" indent="0">
              <a:buNone/>
              <a:defRPr sz="1400"/>
            </a:lvl1pPr>
          </a:lstStyle>
          <a:p>
            <a:endParaRPr lang="ru-RU" dirty="0"/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E2DD92DB-AF5C-4B09-96BC-77D146B99B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40566" y="254682"/>
            <a:ext cx="1007239" cy="4990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725CC6C-2D64-425E-BDF2-A1B5E6A13F4E}"/>
              </a:ext>
            </a:extLst>
          </p:cNvPr>
          <p:cNvSpPr txBox="1"/>
          <p:nvPr userDrawn="1"/>
        </p:nvSpPr>
        <p:spPr>
          <a:xfrm>
            <a:off x="10922804" y="6502400"/>
            <a:ext cx="880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8C0BBA5-A3A7-4401-B4AA-CCF1A2E5CC4D}" type="slidenum">
              <a:rPr lang="ru-RU" sz="1400" smtClean="0">
                <a:solidFill>
                  <a:schemeClr val="bg1"/>
                </a:solidFill>
              </a:rPr>
              <a:pPr algn="r"/>
              <a:t>‹#›</a:t>
            </a:fld>
            <a:endParaRPr lang="ru-RU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8017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елый слайд_2 колонки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833" y="254682"/>
            <a:ext cx="2007337" cy="524083"/>
          </a:xfrm>
          <a:prstGeom prst="rect">
            <a:avLst/>
          </a:prstGeom>
        </p:spPr>
      </p:pic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856CA69-ECB4-4D44-BF51-128717D997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764" y="0"/>
            <a:ext cx="7055318" cy="981778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822F64B2-290D-4791-918B-5BF969ED1F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9764" y="1221483"/>
            <a:ext cx="5501975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rgbClr val="1A468D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9900466A-0AE9-4EBF-A6BB-D8FDEA244A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9764" y="1702744"/>
            <a:ext cx="5502694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1A468D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1F0C8795-E30C-4D85-999B-17BE4CC8F49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17168" y="1221483"/>
            <a:ext cx="5455067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rgbClr val="1A468D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8" name="Текст 9">
            <a:extLst>
              <a:ext uri="{FF2B5EF4-FFF2-40B4-BE49-F238E27FC236}">
                <a16:creationId xmlns:a16="http://schemas.microsoft.com/office/drawing/2014/main" id="{5D38CA2B-AF0F-45BA-9AB2-E2E58BB989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17887" y="1702744"/>
            <a:ext cx="5454347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1A468D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pic>
        <p:nvPicPr>
          <p:cNvPr id="16" name="Picture 8">
            <a:extLst>
              <a:ext uri="{FF2B5EF4-FFF2-40B4-BE49-F238E27FC236}">
                <a16:creationId xmlns:a16="http://schemas.microsoft.com/office/drawing/2014/main" id="{94395CBE-E917-48A2-8399-D968DFAD734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40566" y="254682"/>
            <a:ext cx="1007239" cy="49908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7EF542E-5E62-4900-8DFB-C4A3F318FC2D}"/>
              </a:ext>
            </a:extLst>
          </p:cNvPr>
          <p:cNvSpPr txBox="1"/>
          <p:nvPr userDrawn="1"/>
        </p:nvSpPr>
        <p:spPr>
          <a:xfrm>
            <a:off x="10922804" y="6502400"/>
            <a:ext cx="880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8C0BBA5-A3A7-4401-B4AA-CCF1A2E5CC4D}" type="slidenum">
              <a:rPr lang="ru-RU" sz="1400" smtClean="0">
                <a:solidFill>
                  <a:schemeClr val="bg1"/>
                </a:solidFill>
              </a:rPr>
              <a:pPr algn="r"/>
              <a:t>‹#›</a:t>
            </a:fld>
            <a:endParaRPr lang="ru-RU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854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елый слайд_3 колонки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833" y="254682"/>
            <a:ext cx="2007337" cy="524083"/>
          </a:xfrm>
          <a:prstGeom prst="rect">
            <a:avLst/>
          </a:prstGeom>
        </p:spPr>
      </p:pic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856CA69-ECB4-4D44-BF51-128717D997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764" y="0"/>
            <a:ext cx="7055318" cy="981778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822F64B2-290D-4791-918B-5BF969ED1F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9764" y="1221483"/>
            <a:ext cx="3600000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rgbClr val="1A468D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9900466A-0AE9-4EBF-A6BB-D8FDEA244A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9764" y="1712368"/>
            <a:ext cx="3600000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1A468D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sp>
        <p:nvSpPr>
          <p:cNvPr id="10" name="Текст 6">
            <a:extLst>
              <a:ext uri="{FF2B5EF4-FFF2-40B4-BE49-F238E27FC236}">
                <a16:creationId xmlns:a16="http://schemas.microsoft.com/office/drawing/2014/main" id="{C6693F5D-1E86-4510-88C2-00B18EC738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96000" y="1221483"/>
            <a:ext cx="3600000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rgbClr val="1A468D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6B087493-B8E8-40C9-A124-9D30A067F6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96000" y="1712368"/>
            <a:ext cx="3600000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1A468D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sp>
        <p:nvSpPr>
          <p:cNvPr id="17" name="Текст 6">
            <a:extLst>
              <a:ext uri="{FF2B5EF4-FFF2-40B4-BE49-F238E27FC236}">
                <a16:creationId xmlns:a16="http://schemas.microsoft.com/office/drawing/2014/main" id="{D96285C0-80DE-46E7-9A9A-BE488E924B8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72238" y="1221483"/>
            <a:ext cx="3600000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rgbClr val="1A468D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Текст 9">
            <a:extLst>
              <a:ext uri="{FF2B5EF4-FFF2-40B4-BE49-F238E27FC236}">
                <a16:creationId xmlns:a16="http://schemas.microsoft.com/office/drawing/2014/main" id="{392BD8BF-72E9-4428-97DD-B1885252FA9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72957" y="1712368"/>
            <a:ext cx="3600000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1A468D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pic>
        <p:nvPicPr>
          <p:cNvPr id="18" name="Picture 8">
            <a:extLst>
              <a:ext uri="{FF2B5EF4-FFF2-40B4-BE49-F238E27FC236}">
                <a16:creationId xmlns:a16="http://schemas.microsoft.com/office/drawing/2014/main" id="{35BB0F49-4C73-4AEA-A501-2E32124E21B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40566" y="254682"/>
            <a:ext cx="1007239" cy="49908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DFA6905-FD12-4A67-89C2-2B30002EF613}"/>
              </a:ext>
            </a:extLst>
          </p:cNvPr>
          <p:cNvSpPr txBox="1"/>
          <p:nvPr userDrawn="1"/>
        </p:nvSpPr>
        <p:spPr>
          <a:xfrm>
            <a:off x="10922804" y="6502400"/>
            <a:ext cx="880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8C0BBA5-A3A7-4401-B4AA-CCF1A2E5CC4D}" type="slidenum">
              <a:rPr lang="ru-RU" sz="1400" smtClean="0">
                <a:solidFill>
                  <a:schemeClr val="bg1"/>
                </a:solidFill>
              </a:rPr>
              <a:pPr algn="r"/>
              <a:t>‹#›</a:t>
            </a:fld>
            <a:endParaRPr lang="ru-RU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6185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ий слайд_пусто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833" y="254682"/>
            <a:ext cx="2007337" cy="524083"/>
          </a:xfrm>
          <a:prstGeom prst="rect">
            <a:avLst/>
          </a:prstGeom>
        </p:spPr>
      </p:pic>
      <p:sp>
        <p:nvSpPr>
          <p:cNvPr id="3" name="Заголовок 8">
            <a:extLst>
              <a:ext uri="{FF2B5EF4-FFF2-40B4-BE49-F238E27FC236}">
                <a16:creationId xmlns:a16="http://schemas.microsoft.com/office/drawing/2014/main" id="{254AC82E-E44A-4E49-B7AD-416EBFFEE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764" y="0"/>
            <a:ext cx="7055318" cy="981778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6C1AD932-0DF2-4F9D-B801-D1B14D1928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9764" y="1221483"/>
            <a:ext cx="5486399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F5C78546-CAC3-4CA8-B85B-9B769BE6DE6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40566" y="254682"/>
            <a:ext cx="1007239" cy="4990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D3B7B12-85A2-41DD-A990-A5964AEF276F}"/>
              </a:ext>
            </a:extLst>
          </p:cNvPr>
          <p:cNvSpPr txBox="1"/>
          <p:nvPr userDrawn="1"/>
        </p:nvSpPr>
        <p:spPr>
          <a:xfrm>
            <a:off x="10922804" y="6502400"/>
            <a:ext cx="880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8C0BBA5-A3A7-4401-B4AA-CCF1A2E5CC4D}" type="slidenum">
              <a:rPr lang="ru-RU" sz="1400" smtClean="0">
                <a:solidFill>
                  <a:schemeClr val="bg1"/>
                </a:solidFill>
              </a:rPr>
              <a:pPr algn="r"/>
              <a:t>‹#›</a:t>
            </a:fld>
            <a:endParaRPr lang="ru-RU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3487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ий слайд_колонка и рисуно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833" y="254682"/>
            <a:ext cx="2007337" cy="524083"/>
          </a:xfrm>
          <a:prstGeom prst="rect">
            <a:avLst/>
          </a:prstGeom>
        </p:spPr>
      </p:pic>
      <p:sp>
        <p:nvSpPr>
          <p:cNvPr id="3" name="Заголовок 8">
            <a:extLst>
              <a:ext uri="{FF2B5EF4-FFF2-40B4-BE49-F238E27FC236}">
                <a16:creationId xmlns:a16="http://schemas.microsoft.com/office/drawing/2014/main" id="{254AC82E-E44A-4E49-B7AD-416EBFFEE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764" y="0"/>
            <a:ext cx="7055318" cy="981778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6C1AD932-0DF2-4F9D-B801-D1B14D1928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9764" y="1221483"/>
            <a:ext cx="5486399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CF8C805C-DE97-4647-A33D-C4657135DA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9114" y="1720338"/>
            <a:ext cx="5486399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sp>
        <p:nvSpPr>
          <p:cNvPr id="11" name="Рисунок 18">
            <a:extLst>
              <a:ext uri="{FF2B5EF4-FFF2-40B4-BE49-F238E27FC236}">
                <a16:creationId xmlns:a16="http://schemas.microsoft.com/office/drawing/2014/main" id="{4B34B038-383A-47AE-B598-3853C94033E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98668" y="1220788"/>
            <a:ext cx="5486399" cy="5035550"/>
          </a:xfrm>
          <a:prstGeom prst="rect">
            <a:avLst/>
          </a:prstGeom>
        </p:spPr>
        <p:txBody>
          <a:bodyPr anchor="b" anchorCtr="1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endParaRPr lang="ru-R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F31B65-F902-4E9C-8C36-FAA17D199D0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40566" y="254682"/>
            <a:ext cx="1007239" cy="49908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E992ED4-D7B8-4763-BB4E-9F6FDDF4CC23}"/>
              </a:ext>
            </a:extLst>
          </p:cNvPr>
          <p:cNvSpPr txBox="1"/>
          <p:nvPr userDrawn="1"/>
        </p:nvSpPr>
        <p:spPr>
          <a:xfrm>
            <a:off x="10922804" y="6502400"/>
            <a:ext cx="880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8C0BBA5-A3A7-4401-B4AA-CCF1A2E5CC4D}" type="slidenum">
              <a:rPr lang="ru-RU" sz="1400" smtClean="0">
                <a:solidFill>
                  <a:schemeClr val="bg1"/>
                </a:solidFill>
              </a:rPr>
              <a:pPr algn="r"/>
              <a:t>‹#›</a:t>
            </a:fld>
            <a:endParaRPr lang="ru-RU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0515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ий слайд_2 колонки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833" y="254682"/>
            <a:ext cx="2007337" cy="524083"/>
          </a:xfrm>
          <a:prstGeom prst="rect">
            <a:avLst/>
          </a:prstGeom>
        </p:spPr>
      </p:pic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856CA69-ECB4-4D44-BF51-128717D997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764" y="0"/>
            <a:ext cx="7055318" cy="981778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822F64B2-290D-4791-918B-5BF969ED1F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9764" y="1221483"/>
            <a:ext cx="5501975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9900466A-0AE9-4EBF-A6BB-D8FDEA244A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9764" y="1721994"/>
            <a:ext cx="5502694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1F0C8795-E30C-4D85-999B-17BE4CC8F49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17169" y="1221483"/>
            <a:ext cx="5454348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8" name="Текст 9">
            <a:extLst>
              <a:ext uri="{FF2B5EF4-FFF2-40B4-BE49-F238E27FC236}">
                <a16:creationId xmlns:a16="http://schemas.microsoft.com/office/drawing/2014/main" id="{5D38CA2B-AF0F-45BA-9AB2-E2E58BB989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17888" y="1721994"/>
            <a:ext cx="5454348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pic>
        <p:nvPicPr>
          <p:cNvPr id="16" name="Picture 8">
            <a:extLst>
              <a:ext uri="{FF2B5EF4-FFF2-40B4-BE49-F238E27FC236}">
                <a16:creationId xmlns:a16="http://schemas.microsoft.com/office/drawing/2014/main" id="{CA6F7E49-A566-4481-9C88-0010F1F83F7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40566" y="254682"/>
            <a:ext cx="1007239" cy="49908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515162D-14CE-4563-8774-13F802CBAFCB}"/>
              </a:ext>
            </a:extLst>
          </p:cNvPr>
          <p:cNvSpPr txBox="1"/>
          <p:nvPr userDrawn="1"/>
        </p:nvSpPr>
        <p:spPr>
          <a:xfrm>
            <a:off x="10922804" y="6502400"/>
            <a:ext cx="880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8C0BBA5-A3A7-4401-B4AA-CCF1A2E5CC4D}" type="slidenum">
              <a:rPr lang="ru-RU" sz="1400" smtClean="0">
                <a:solidFill>
                  <a:schemeClr val="bg1"/>
                </a:solidFill>
              </a:rPr>
              <a:pPr algn="r"/>
              <a:t>‹#›</a:t>
            </a:fld>
            <a:endParaRPr lang="ru-RU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9406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ий слайд_3 колонки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833" y="254682"/>
            <a:ext cx="2007337" cy="524083"/>
          </a:xfrm>
          <a:prstGeom prst="rect">
            <a:avLst/>
          </a:prstGeom>
        </p:spPr>
      </p:pic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856CA69-ECB4-4D44-BF51-128717D997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764" y="0"/>
            <a:ext cx="7055318" cy="981778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822F64B2-290D-4791-918B-5BF969ED1F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9764" y="1221483"/>
            <a:ext cx="3600000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9900466A-0AE9-4EBF-A6BB-D8FDEA244A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0483" y="1721994"/>
            <a:ext cx="3600000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sp>
        <p:nvSpPr>
          <p:cNvPr id="10" name="Текст 6">
            <a:extLst>
              <a:ext uri="{FF2B5EF4-FFF2-40B4-BE49-F238E27FC236}">
                <a16:creationId xmlns:a16="http://schemas.microsoft.com/office/drawing/2014/main" id="{C6693F5D-1E86-4510-88C2-00B18EC738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96000" y="1221483"/>
            <a:ext cx="3600000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6B087493-B8E8-40C9-A124-9D30A067F6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96000" y="1721994"/>
            <a:ext cx="3600000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sp>
        <p:nvSpPr>
          <p:cNvPr id="17" name="Текст 6">
            <a:extLst>
              <a:ext uri="{FF2B5EF4-FFF2-40B4-BE49-F238E27FC236}">
                <a16:creationId xmlns:a16="http://schemas.microsoft.com/office/drawing/2014/main" id="{D96285C0-80DE-46E7-9A9A-BE488E924B8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70798" y="1221483"/>
            <a:ext cx="3600000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Текст 9">
            <a:extLst>
              <a:ext uri="{FF2B5EF4-FFF2-40B4-BE49-F238E27FC236}">
                <a16:creationId xmlns:a16="http://schemas.microsoft.com/office/drawing/2014/main" id="{392BD8BF-72E9-4428-97DD-B1885252FA9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71517" y="1721994"/>
            <a:ext cx="3600000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pic>
        <p:nvPicPr>
          <p:cNvPr id="21" name="Picture 8">
            <a:extLst>
              <a:ext uri="{FF2B5EF4-FFF2-40B4-BE49-F238E27FC236}">
                <a16:creationId xmlns:a16="http://schemas.microsoft.com/office/drawing/2014/main" id="{6BD9029C-5108-4AF3-A1F7-8AFE00FB10F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40566" y="254682"/>
            <a:ext cx="1007239" cy="49908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F9D558F-4713-4605-B399-464201D0AF4C}"/>
              </a:ext>
            </a:extLst>
          </p:cNvPr>
          <p:cNvSpPr txBox="1"/>
          <p:nvPr userDrawn="1"/>
        </p:nvSpPr>
        <p:spPr>
          <a:xfrm>
            <a:off x="10922804" y="6502400"/>
            <a:ext cx="880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8C0BBA5-A3A7-4401-B4AA-CCF1A2E5CC4D}" type="slidenum">
              <a:rPr lang="ru-RU" sz="1400" smtClean="0">
                <a:solidFill>
                  <a:schemeClr val="bg1"/>
                </a:solidFill>
              </a:rPr>
              <a:pPr algn="r"/>
              <a:t>‹#›</a:t>
            </a:fld>
            <a:endParaRPr lang="ru-RU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8572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следняя страниц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9670" y="194284"/>
            <a:ext cx="2510355" cy="655413"/>
          </a:xfrm>
          <a:prstGeom prst="rect">
            <a:avLst/>
          </a:prstGeom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D767B035-C8ED-4A9E-A741-B4070FCDB9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43074"/>
          <a:stretch/>
        </p:blipFill>
        <p:spPr>
          <a:xfrm flipH="1">
            <a:off x="5251615" y="1633219"/>
            <a:ext cx="6940385" cy="2366945"/>
          </a:xfrm>
          <a:prstGeom prst="rect">
            <a:avLst/>
          </a:prstGeom>
        </p:spPr>
      </p:pic>
      <p:sp>
        <p:nvSpPr>
          <p:cNvPr id="5" name="Текст 4">
            <a:extLst>
              <a:ext uri="{FF2B5EF4-FFF2-40B4-BE49-F238E27FC236}">
                <a16:creationId xmlns:a16="http://schemas.microsoft.com/office/drawing/2014/main" id="{1330683F-E6D0-49BA-AB32-DED060A409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35050" y="1886351"/>
            <a:ext cx="4819739" cy="112635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БЛАГОДАРЮ ЗА ВНИМАНИЕ!</a:t>
            </a:r>
          </a:p>
        </p:txBody>
      </p:sp>
      <p:pic>
        <p:nvPicPr>
          <p:cNvPr id="6" name="Picture 11">
            <a:extLst>
              <a:ext uri="{FF2B5EF4-FFF2-40B4-BE49-F238E27FC236}">
                <a16:creationId xmlns:a16="http://schemas.microsoft.com/office/drawing/2014/main" id="{512F792B-3E91-42A3-8404-10DD04803E5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23836" y="217610"/>
            <a:ext cx="1275668" cy="632087"/>
          </a:xfrm>
          <a:prstGeom prst="rect">
            <a:avLst/>
          </a:prstGeom>
        </p:spPr>
      </p:pic>
      <p:sp>
        <p:nvSpPr>
          <p:cNvPr id="11" name="Текст 10">
            <a:extLst>
              <a:ext uri="{FF2B5EF4-FFF2-40B4-BE49-F238E27FC236}">
                <a16:creationId xmlns:a16="http://schemas.microsoft.com/office/drawing/2014/main" id="{0300DD6F-90C7-4CDA-B2F2-3D29AD82C0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5546" y="1633537"/>
            <a:ext cx="4948874" cy="540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Тема проекта</a:t>
            </a:r>
          </a:p>
        </p:txBody>
      </p:sp>
      <p:sp>
        <p:nvSpPr>
          <p:cNvPr id="12" name="Текст 10">
            <a:extLst>
              <a:ext uri="{FF2B5EF4-FFF2-40B4-BE49-F238E27FC236}">
                <a16:creationId xmlns:a16="http://schemas.microsoft.com/office/drawing/2014/main" id="{EE558EE7-AF15-450A-8CDC-710453B2B5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546" y="2258343"/>
            <a:ext cx="4948874" cy="304801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14" name="Текст 10">
            <a:extLst>
              <a:ext uri="{FF2B5EF4-FFF2-40B4-BE49-F238E27FC236}">
                <a16:creationId xmlns:a16="http://schemas.microsoft.com/office/drawing/2014/main" id="{4DCF5854-D059-4195-8E07-023DE04A76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5546" y="3276599"/>
            <a:ext cx="4948874" cy="304801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Город</a:t>
            </a:r>
          </a:p>
        </p:txBody>
      </p:sp>
      <p:sp>
        <p:nvSpPr>
          <p:cNvPr id="15" name="Текст 10">
            <a:extLst>
              <a:ext uri="{FF2B5EF4-FFF2-40B4-BE49-F238E27FC236}">
                <a16:creationId xmlns:a16="http://schemas.microsoft.com/office/drawing/2014/main" id="{E83AD61D-A7B2-49FF-BC57-1DD602EBD28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5546" y="2647950"/>
            <a:ext cx="4948874" cy="540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Наименование вуза</a:t>
            </a:r>
          </a:p>
        </p:txBody>
      </p:sp>
      <p:sp>
        <p:nvSpPr>
          <p:cNvPr id="16" name="Текст 10">
            <a:extLst>
              <a:ext uri="{FF2B5EF4-FFF2-40B4-BE49-F238E27FC236}">
                <a16:creationId xmlns:a16="http://schemas.microsoft.com/office/drawing/2014/main" id="{73F01592-11C6-48BE-BEBA-C517FF7F46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5546" y="3670049"/>
            <a:ext cx="4948874" cy="304801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Email: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44524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0611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7" r:id="rId2"/>
    <p:sldLayoutId id="2147483649" r:id="rId3"/>
    <p:sldLayoutId id="2147483653" r:id="rId4"/>
    <p:sldLayoutId id="2147483654" r:id="rId5"/>
    <p:sldLayoutId id="2147483658" r:id="rId6"/>
    <p:sldLayoutId id="2147483650" r:id="rId7"/>
    <p:sldLayoutId id="2147483655" r:id="rId8"/>
    <p:sldLayoutId id="2147483656" r:id="rId9"/>
    <p:sldLayoutId id="2147483652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11">
            <a:extLst>
              <a:ext uri="{FF2B5EF4-FFF2-40B4-BE49-F238E27FC236}">
                <a16:creationId xmlns:a16="http://schemas.microsoft.com/office/drawing/2014/main" id="{4AFC1B50-376C-1248-ABF2-37AF10E70B4B}"/>
              </a:ext>
            </a:extLst>
          </p:cNvPr>
          <p:cNvSpPr txBox="1">
            <a:spLocks/>
          </p:cNvSpPr>
          <p:nvPr/>
        </p:nvSpPr>
        <p:spPr>
          <a:xfrm>
            <a:off x="475686" y="1555476"/>
            <a:ext cx="6585842" cy="33657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>
                <a:solidFill>
                  <a:schemeClr val="bg1"/>
                </a:solidFill>
              </a:rPr>
              <a:t>Разработка моделей интеллектуальной диагностики и прогнозирования коррозионного износа критических участков трубопроводного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оборудования нефтеперерабатывающих предприятий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10" name="Текст 17">
            <a:extLst>
              <a:ext uri="{FF2B5EF4-FFF2-40B4-BE49-F238E27FC236}">
                <a16:creationId xmlns:a16="http://schemas.microsoft.com/office/drawing/2014/main" id="{4E64B109-A427-A941-9FFA-E698FB468715}"/>
              </a:ext>
            </a:extLst>
          </p:cNvPr>
          <p:cNvSpPr txBox="1">
            <a:spLocks/>
          </p:cNvSpPr>
          <p:nvPr/>
        </p:nvSpPr>
        <p:spPr>
          <a:xfrm>
            <a:off x="835546" y="4971650"/>
            <a:ext cx="4948874" cy="304801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</a:rPr>
              <a:t>Косякин Владимир Владиславович</a:t>
            </a:r>
          </a:p>
        </p:txBody>
      </p:sp>
      <p:sp>
        <p:nvSpPr>
          <p:cNvPr id="12" name="Текст 19">
            <a:extLst>
              <a:ext uri="{FF2B5EF4-FFF2-40B4-BE49-F238E27FC236}">
                <a16:creationId xmlns:a16="http://schemas.microsoft.com/office/drawing/2014/main" id="{5963EF2C-BACE-9845-AE78-7387972EB0B4}"/>
              </a:ext>
            </a:extLst>
          </p:cNvPr>
          <p:cNvSpPr txBox="1">
            <a:spLocks/>
          </p:cNvSpPr>
          <p:nvPr/>
        </p:nvSpPr>
        <p:spPr>
          <a:xfrm>
            <a:off x="835545" y="5390445"/>
            <a:ext cx="9069471" cy="36211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</a:rPr>
              <a:t>НГТУ им. Р.Е. Алексеева</a:t>
            </a:r>
          </a:p>
        </p:txBody>
      </p:sp>
      <p:sp>
        <p:nvSpPr>
          <p:cNvPr id="5" name="Текст 19">
            <a:extLst>
              <a:ext uri="{FF2B5EF4-FFF2-40B4-BE49-F238E27FC236}">
                <a16:creationId xmlns:a16="http://schemas.microsoft.com/office/drawing/2014/main" id="{022C0AA4-8771-2D47-9769-B74D7633CEB7}"/>
              </a:ext>
            </a:extLst>
          </p:cNvPr>
          <p:cNvSpPr txBox="1">
            <a:spLocks/>
          </p:cNvSpPr>
          <p:nvPr/>
        </p:nvSpPr>
        <p:spPr>
          <a:xfrm>
            <a:off x="835546" y="6317878"/>
            <a:ext cx="10482942" cy="36211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</a:rPr>
              <a:t>Уровень образования: аспирантура</a:t>
            </a:r>
          </a:p>
        </p:txBody>
      </p:sp>
      <p:sp>
        <p:nvSpPr>
          <p:cNvPr id="6" name="Текст 19">
            <a:extLst>
              <a:ext uri="{FF2B5EF4-FFF2-40B4-BE49-F238E27FC236}">
                <a16:creationId xmlns:a16="http://schemas.microsoft.com/office/drawing/2014/main" id="{5E280B86-1BF7-D544-B5A7-5C5CB44A3026}"/>
              </a:ext>
            </a:extLst>
          </p:cNvPr>
          <p:cNvSpPr txBox="1">
            <a:spLocks/>
          </p:cNvSpPr>
          <p:nvPr/>
        </p:nvSpPr>
        <p:spPr>
          <a:xfrm>
            <a:off x="835546" y="5876463"/>
            <a:ext cx="4948874" cy="36211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</a:rPr>
              <a:t>Курс обучения: второй</a:t>
            </a:r>
          </a:p>
        </p:txBody>
      </p:sp>
    </p:spTree>
    <p:extLst>
      <p:ext uri="{BB962C8B-B14F-4D97-AF65-F5344CB8AC3E}">
        <p14:creationId xmlns:p14="http://schemas.microsoft.com/office/powerpoint/2010/main" val="473747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Текст 6">
            <a:extLst>
              <a:ext uri="{FF2B5EF4-FFF2-40B4-BE49-F238E27FC236}">
                <a16:creationId xmlns:a16="http://schemas.microsoft.com/office/drawing/2014/main" id="{71ACD7CE-8053-445F-9CFC-EB84FFEA9C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0107" y="1221483"/>
            <a:ext cx="5334498" cy="405186"/>
          </a:xfrm>
        </p:spPr>
        <p:txBody>
          <a:bodyPr/>
          <a:lstStyle/>
          <a:p>
            <a:r>
              <a:rPr lang="ru-RU" dirty="0"/>
              <a:t>Актуальность тематики выпускной квалификационной работы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0A5090A8-2FFA-469F-BBCE-5E36DE948C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30838" y="1221483"/>
            <a:ext cx="5334498" cy="405186"/>
          </a:xfrm>
        </p:spPr>
        <p:txBody>
          <a:bodyPr/>
          <a:lstStyle/>
          <a:p>
            <a:r>
              <a:rPr lang="ru-RU" dirty="0"/>
              <a:t>Ожидаемые результаты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B0715760-7422-45EB-8CBE-31C8A2B799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0915" y="1918010"/>
            <a:ext cx="5334498" cy="4225096"/>
          </a:xfrm>
        </p:spPr>
        <p:txBody>
          <a:bodyPr/>
          <a:lstStyle/>
          <a:p>
            <a:r>
              <a:rPr lang="ru-RU" b="1" dirty="0"/>
              <a:t>Высокая аварийность и экономические потери</a:t>
            </a:r>
            <a:r>
              <a:rPr lang="ru-RU" dirty="0"/>
              <a:t>. Коррозионный износ критических участков трубопроводов остается доминирующей причиной аварийных ситуаций, внеплановых остановов и значительных финансовых потерь на нефтеперерабатывающих предприятиях.</a:t>
            </a:r>
          </a:p>
          <a:p>
            <a:r>
              <a:rPr lang="ru-RU" b="1" dirty="0"/>
              <a:t>Доминирование ретроспективного анализа над предиктивным в системе технического обслуживания</a:t>
            </a:r>
            <a:r>
              <a:rPr lang="ru-RU" dirty="0"/>
              <a:t>. Современные методы диагностики ориентированы на констатацию фактического состояния, а не на прогноз его изменения. Разрозненность данных и их привязки к объектам оборудования не позволяет формировать достоверные прогнозы, что сохраняет высокий уровень эксплуатационных рисков.</a:t>
            </a:r>
          </a:p>
          <a:p>
            <a:r>
              <a:rPr lang="ru-RU" b="1" dirty="0"/>
              <a:t>Отсутствие интегрированных интеллектуальных решений</a:t>
            </a:r>
            <a:r>
              <a:rPr lang="ru-RU" dirty="0"/>
              <a:t>. Дефицит систем, объединяющих достоверные данные, физико-химические модели, технические характеристики и методы машинного обучения для сквозного прогнозирования износа, ограничивает возможности цифровой трансформации.</a:t>
            </a:r>
          </a:p>
        </p:txBody>
      </p:sp>
      <p:sp>
        <p:nvSpPr>
          <p:cNvPr id="10" name="Текст 5">
            <a:extLst>
              <a:ext uri="{FF2B5EF4-FFF2-40B4-BE49-F238E27FC236}">
                <a16:creationId xmlns:a16="http://schemas.microsoft.com/office/drawing/2014/main" id="{B0715760-7422-45EB-8CBE-31C8A2B799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55934" y="1766174"/>
            <a:ext cx="5334498" cy="4376932"/>
          </a:xfrm>
        </p:spPr>
        <p:txBody>
          <a:bodyPr/>
          <a:lstStyle/>
          <a:p>
            <a:r>
              <a:rPr lang="ru-RU" b="1" dirty="0"/>
              <a:t>Разработка и внедрение программного комплекса</a:t>
            </a:r>
            <a:r>
              <a:rPr lang="ru-RU" dirty="0"/>
              <a:t>, интегрирующего автоматизированную систему сбора данных (на базе мобильного приложения «МОБИТЕХ») и модуль интеллектуальной диагностики на основе алгоритмов машинного обучения.</a:t>
            </a:r>
          </a:p>
          <a:p>
            <a:r>
              <a:rPr lang="ru-RU" b="1" dirty="0"/>
              <a:t>Создание и верификация прогнозных моделей </a:t>
            </a:r>
            <a:r>
              <a:rPr lang="ru-RU" dirty="0"/>
              <a:t>коррозионного износа, обеспечивающих оценку остаточного ресурса критических участков оборудования с заданной вероятностью.</a:t>
            </a:r>
          </a:p>
          <a:p>
            <a:r>
              <a:rPr lang="ru-RU" b="1" dirty="0"/>
              <a:t>Интеграция результатов прогнозирования в технологические процессы предприятия для</a:t>
            </a:r>
            <a:r>
              <a:rPr lang="ru-RU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Оптимизации планов-графиков капитальных ремонтов и инспекций на основе риск-ориентированного подхода (RBI).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Повышения обоснованности решений по замене оборудования.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Поддержки проектирования новых технологических линий с учетом данных о реальной коррозионной стойкости.</a:t>
            </a:r>
          </a:p>
        </p:txBody>
      </p:sp>
      <p:sp>
        <p:nvSpPr>
          <p:cNvPr id="13" name="Заголовок 5">
            <a:extLst>
              <a:ext uri="{FF2B5EF4-FFF2-40B4-BE49-F238E27FC236}">
                <a16:creationId xmlns:a16="http://schemas.microsoft.com/office/drawing/2014/main" id="{3C71EE4E-0F40-4112-ADFB-8AEFEF48A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764" y="147144"/>
            <a:ext cx="7055318" cy="657744"/>
          </a:xfrm>
        </p:spPr>
        <p:txBody>
          <a:bodyPr/>
          <a:lstStyle/>
          <a:p>
            <a:r>
              <a:rPr lang="ru-RU" dirty="0"/>
              <a:t>Актуальность и ожидаемые результаты</a:t>
            </a:r>
          </a:p>
        </p:txBody>
      </p:sp>
    </p:spTree>
    <p:extLst>
      <p:ext uri="{BB962C8B-B14F-4D97-AF65-F5344CB8AC3E}">
        <p14:creationId xmlns:p14="http://schemas.microsoft.com/office/powerpoint/2010/main" val="1780682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Текст 6">
            <a:extLst>
              <a:ext uri="{FF2B5EF4-FFF2-40B4-BE49-F238E27FC236}">
                <a16:creationId xmlns:a16="http://schemas.microsoft.com/office/drawing/2014/main" id="{71ACD7CE-8053-445F-9CFC-EB84FFEA9C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0107" y="1221483"/>
            <a:ext cx="5334498" cy="405186"/>
          </a:xfrm>
        </p:spPr>
        <p:txBody>
          <a:bodyPr/>
          <a:lstStyle/>
          <a:p>
            <a:r>
              <a:rPr lang="ru-RU" dirty="0"/>
              <a:t>Новизна планируемых результатов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0A5090A8-2FFA-469F-BBCE-5E36DE948C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30838" y="1221483"/>
            <a:ext cx="5334498" cy="405186"/>
          </a:xfrm>
        </p:spPr>
        <p:txBody>
          <a:bodyPr/>
          <a:lstStyle/>
          <a:p>
            <a:r>
              <a:rPr lang="ru-RU" dirty="0"/>
              <a:t>Практическая значимость планируемых результатов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B0715760-7422-45EB-8CBE-31C8A2B799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8613" y="1906859"/>
            <a:ext cx="5334498" cy="4225096"/>
          </a:xfrm>
        </p:spPr>
        <p:txBody>
          <a:bodyPr/>
          <a:lstStyle/>
          <a:p>
            <a:r>
              <a:rPr lang="ru-RU" b="1" dirty="0"/>
              <a:t>Разработка гибридной прогнозной модели, интегрирующей физико-химические закономерности и анализ данных</a:t>
            </a:r>
            <a:r>
              <a:rPr lang="ru-RU" dirty="0"/>
              <a:t>. В отличие от существующих подходов, модель на основе машинного обучения учитывает комплексное влияние множества технологических параметров и конструктивных факторов, что позволяет описывать сложные нелинейные процессы коррозии, не поддающиеся точному расчету по традиционным теоретическим моделям.</a:t>
            </a:r>
          </a:p>
          <a:p>
            <a:r>
              <a:rPr lang="ru-RU" b="1" dirty="0"/>
              <a:t>Создание и верификация специализированных количественных индексов, </a:t>
            </a:r>
            <a:r>
              <a:rPr lang="ru-RU" dirty="0"/>
              <a:t>основанных на синтезе отраслевых стандартов и данных промышленной эксплуатации. Данные индексы формализуют экспертные знания и переводят их в машинно-интерпретируемые признаки, что является методической новизной в области прогнозирования коррозии.</a:t>
            </a:r>
          </a:p>
          <a:p>
            <a:r>
              <a:rPr lang="ru-RU" b="1" dirty="0"/>
              <a:t>Адаптация подхода к условиям технологических установок НПЗ. </a:t>
            </a:r>
            <a:r>
              <a:rPr lang="ru-RU" dirty="0"/>
              <a:t>В отличие от решений для магистральных трубопроводов, методология ориентирована на работу с высокой плотностью оборудования, большим разнообразием сред и короткими циклами измерения, характерными для перерабатывающих заводов.</a:t>
            </a:r>
          </a:p>
        </p:txBody>
      </p:sp>
      <p:sp>
        <p:nvSpPr>
          <p:cNvPr id="10" name="Текст 5">
            <a:extLst>
              <a:ext uri="{FF2B5EF4-FFF2-40B4-BE49-F238E27FC236}">
                <a16:creationId xmlns:a16="http://schemas.microsoft.com/office/drawing/2014/main" id="{B0715760-7422-45EB-8CBE-31C8A2B799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55934" y="1918008"/>
            <a:ext cx="5334498" cy="4225097"/>
          </a:xfrm>
        </p:spPr>
        <p:txBody>
          <a:bodyPr/>
          <a:lstStyle/>
          <a:p>
            <a:r>
              <a:rPr lang="ru-RU" b="1" dirty="0"/>
              <a:t>Снижение длительности и повышение обоснованности капитальных ремонтов</a:t>
            </a:r>
            <a:r>
              <a:rPr lang="ru-RU" dirty="0"/>
              <a:t>. Внедрение системы позволит сократить количество незапланированных решений о замене, принимаемых инженерами непосредственно "в полевых условиях" во время ремонта за счет новых возможностей по прогнозированию износа оборудования. Это исключит простои, связанные с оперативным поиском решений и оформлением документов, и оптимизирует логистику и ресурсы.</a:t>
            </a:r>
          </a:p>
          <a:p>
            <a:r>
              <a:rPr lang="ru-RU" b="1" dirty="0"/>
              <a:t>Повышение эффективности риск-ориентированного подхода (RBI). </a:t>
            </a:r>
            <a:r>
              <a:rPr lang="ru-RU" dirty="0"/>
              <a:t>Инженеры RBI получат инструмент для объективного ранжирования оборудования по степени коррозионного риска и формирования обоснованного плана инспекций.</a:t>
            </a:r>
          </a:p>
          <a:p>
            <a:r>
              <a:rPr lang="ru-RU" b="1" dirty="0"/>
              <a:t>Поддержка проектирования новых трубопроводных систем.</a:t>
            </a:r>
            <a:r>
              <a:rPr lang="ru-RU" dirty="0"/>
              <a:t> Накопленные </a:t>
            </a:r>
            <a:r>
              <a:rPr lang="ru-RU" dirty="0" err="1"/>
              <a:t>датасеты</a:t>
            </a:r>
            <a:r>
              <a:rPr lang="ru-RU" dirty="0"/>
              <a:t> и верифицированные модели могут быть использованы для предиктивного анализа "узких мест" и оценки коррозионной стойкости запроектированных решений на этапе их разработки.</a:t>
            </a:r>
          </a:p>
        </p:txBody>
      </p:sp>
      <p:sp>
        <p:nvSpPr>
          <p:cNvPr id="13" name="Заголовок 5">
            <a:extLst>
              <a:ext uri="{FF2B5EF4-FFF2-40B4-BE49-F238E27FC236}">
                <a16:creationId xmlns:a16="http://schemas.microsoft.com/office/drawing/2014/main" id="{3C71EE4E-0F40-4112-ADFB-8AEFEF48A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764" y="147144"/>
            <a:ext cx="7055318" cy="657744"/>
          </a:xfrm>
        </p:spPr>
        <p:txBody>
          <a:bodyPr/>
          <a:lstStyle/>
          <a:p>
            <a:r>
              <a:rPr lang="ru-RU" dirty="0"/>
              <a:t>Новизна и практическая значимость</a:t>
            </a:r>
          </a:p>
        </p:txBody>
      </p:sp>
    </p:spTree>
    <p:extLst>
      <p:ext uri="{BB962C8B-B14F-4D97-AF65-F5344CB8AC3E}">
        <p14:creationId xmlns:p14="http://schemas.microsoft.com/office/powerpoint/2010/main" val="4161753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F55F4DA6-9028-4545-82AA-A50889F761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9764" y="1221483"/>
            <a:ext cx="6026002" cy="405186"/>
          </a:xfrm>
        </p:spPr>
        <p:txBody>
          <a:bodyPr/>
          <a:lstStyle/>
          <a:p>
            <a:r>
              <a:rPr lang="ru-RU" dirty="0"/>
              <a:t>Основная часть презентации (описание проекта)</a:t>
            </a:r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3C71EE4E-0F40-4112-ADFB-8AEFEF48A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764" y="147144"/>
            <a:ext cx="7055318" cy="657744"/>
          </a:xfrm>
        </p:spPr>
        <p:txBody>
          <a:bodyPr/>
          <a:lstStyle/>
          <a:p>
            <a:r>
              <a:rPr lang="ru-RU" dirty="0"/>
              <a:t>Описание проекта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FDDF1F-5D02-445F-9407-348D2BB7831D}"/>
              </a:ext>
            </a:extLst>
          </p:cNvPr>
          <p:cNvSpPr txBox="1"/>
          <p:nvPr/>
        </p:nvSpPr>
        <p:spPr>
          <a:xfrm>
            <a:off x="6095018" y="1616815"/>
            <a:ext cx="6096982" cy="4608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ru-RU" sz="1400" b="1" dirty="0">
                <a:solidFill>
                  <a:srgbClr val="1A468D"/>
                </a:solidFill>
              </a:rPr>
              <a:t>Текущее состояние разработки</a:t>
            </a:r>
          </a:p>
          <a:p>
            <a:pPr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ru-RU" sz="1400" dirty="0">
                <a:solidFill>
                  <a:srgbClr val="1A468D"/>
                </a:solidFill>
              </a:rPr>
              <a:t>На данный момент реализован технологический фундамент:</a:t>
            </a:r>
            <a:endParaRPr lang="en-US" sz="1400" dirty="0">
              <a:solidFill>
                <a:srgbClr val="1A468D"/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1A468D"/>
                </a:solidFill>
              </a:rPr>
              <a:t>система сбора данных, обеспечивающая структурированное поступление информации с объектов контроля. </a:t>
            </a:r>
            <a:endParaRPr lang="en-US" sz="1400" dirty="0">
              <a:solidFill>
                <a:srgbClr val="1A468D"/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1A468D"/>
                </a:solidFill>
              </a:rPr>
              <a:t>система обогащения данных в СУБД </a:t>
            </a:r>
            <a:r>
              <a:rPr lang="ru-RU" sz="1400" dirty="0" err="1">
                <a:solidFill>
                  <a:srgbClr val="1A468D"/>
                </a:solidFill>
              </a:rPr>
              <a:t>PostgreSQL</a:t>
            </a:r>
            <a:r>
              <a:rPr lang="ru-RU" sz="1400" dirty="0">
                <a:solidFill>
                  <a:srgbClr val="1A468D"/>
                </a:solidFill>
              </a:rPr>
              <a:t>, включающая алгоритмы очистки от артефактов и расчета физико-химических индексов.</a:t>
            </a:r>
          </a:p>
          <a:p>
            <a:pPr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ru-RU" sz="1400" i="1" dirty="0">
                <a:solidFill>
                  <a:srgbClr val="1A468D"/>
                </a:solidFill>
              </a:rPr>
              <a:t>Развернут базовый </a:t>
            </a:r>
            <a:r>
              <a:rPr lang="ru-RU" sz="1400" i="1" dirty="0" err="1">
                <a:solidFill>
                  <a:srgbClr val="1A468D"/>
                </a:solidFill>
              </a:rPr>
              <a:t>пайплайн</a:t>
            </a:r>
            <a:r>
              <a:rPr lang="ru-RU" sz="1400" i="1" dirty="0">
                <a:solidFill>
                  <a:srgbClr val="1A468D"/>
                </a:solidFill>
              </a:rPr>
              <a:t> машинного обучения</a:t>
            </a:r>
            <a:r>
              <a:rPr lang="en-US" sz="1400" i="1" dirty="0">
                <a:solidFill>
                  <a:srgbClr val="1A468D"/>
                </a:solidFill>
              </a:rPr>
              <a:t> </a:t>
            </a:r>
            <a:r>
              <a:rPr lang="ru-RU" sz="1400" dirty="0">
                <a:solidFill>
                  <a:srgbClr val="1A468D"/>
                </a:solidFill>
              </a:rPr>
              <a:t>с ансамблевыми методами, на текущий момент достигнут коэффициент детерминации R² = 0.429, подтверждающий потенциальную работоспособность подхода.</a:t>
            </a:r>
            <a:endParaRPr lang="en-US" sz="1400" dirty="0">
              <a:solidFill>
                <a:srgbClr val="1A468D"/>
              </a:solidFill>
            </a:endParaRPr>
          </a:p>
          <a:p>
            <a:pPr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ru-RU" sz="1400" b="1" dirty="0">
                <a:solidFill>
                  <a:srgbClr val="1A468D"/>
                </a:solidFill>
              </a:rPr>
              <a:t>Дальнейшие шаги: </a:t>
            </a:r>
            <a:endParaRPr lang="en-US" sz="1400" b="1" dirty="0">
              <a:solidFill>
                <a:srgbClr val="1A468D"/>
              </a:solidFill>
            </a:endParaRPr>
          </a:p>
          <a:p>
            <a:pPr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ru-RU" sz="1400" dirty="0">
                <a:solidFill>
                  <a:srgbClr val="1A468D"/>
                </a:solidFill>
              </a:rPr>
              <a:t>Расширение </a:t>
            </a:r>
            <a:r>
              <a:rPr lang="ru-RU" sz="1400" dirty="0" err="1">
                <a:solidFill>
                  <a:srgbClr val="1A468D"/>
                </a:solidFill>
              </a:rPr>
              <a:t>датасета</a:t>
            </a:r>
            <a:r>
              <a:rPr lang="ru-RU" sz="1400" dirty="0">
                <a:solidFill>
                  <a:srgbClr val="1A468D"/>
                </a:solidFill>
              </a:rPr>
              <a:t> за счет информации с других предприятий и введение новых расчётных признаков.</a:t>
            </a:r>
          </a:p>
          <a:p>
            <a:pPr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ru-RU" sz="1400" dirty="0">
                <a:solidFill>
                  <a:srgbClr val="1A468D"/>
                </a:solidFill>
              </a:rPr>
              <a:t>Переход к более сложным алгоритмам — градиентному </a:t>
            </a:r>
            <a:r>
              <a:rPr lang="ru-RU" sz="1400" dirty="0" err="1">
                <a:solidFill>
                  <a:srgbClr val="1A468D"/>
                </a:solidFill>
              </a:rPr>
              <a:t>бустингу</a:t>
            </a:r>
            <a:r>
              <a:rPr lang="ru-RU" sz="1400" dirty="0">
                <a:solidFill>
                  <a:srgbClr val="1A468D"/>
                </a:solidFill>
              </a:rPr>
              <a:t> и глубоким нейронным сетям, способным учитывать нелинейные взаимодействия факторов.</a:t>
            </a:r>
          </a:p>
          <a:p>
            <a:pPr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ru-RU" sz="1400" b="1" dirty="0">
                <a:solidFill>
                  <a:srgbClr val="1A468D"/>
                </a:solidFill>
              </a:rPr>
              <a:t>Таким образом, проект представляет собой активно развивающуюся платформу, находящуюся на стадии перехода от подтверждения концепции к созданию промышленного прототипа.</a:t>
            </a:r>
          </a:p>
        </p:txBody>
      </p:sp>
      <p:sp>
        <p:nvSpPr>
          <p:cNvPr id="12" name="Текст 5">
            <a:extLst>
              <a:ext uri="{FF2B5EF4-FFF2-40B4-BE49-F238E27FC236}">
                <a16:creationId xmlns:a16="http://schemas.microsoft.com/office/drawing/2014/main" id="{FEA3F8FA-90BE-4466-99B9-9D75BBED08ED}"/>
              </a:ext>
            </a:extLst>
          </p:cNvPr>
          <p:cNvSpPr txBox="1">
            <a:spLocks/>
          </p:cNvSpPr>
          <p:nvPr/>
        </p:nvSpPr>
        <p:spPr>
          <a:xfrm>
            <a:off x="519764" y="1616815"/>
            <a:ext cx="5334498" cy="422509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ru-RU" sz="1400" b="1" dirty="0">
                <a:solidFill>
                  <a:srgbClr val="1A468D"/>
                </a:solidFill>
              </a:rPr>
              <a:t>Цель и концепция проекта</a:t>
            </a:r>
          </a:p>
          <a:p>
            <a:pPr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ru-RU" sz="1400" dirty="0">
                <a:solidFill>
                  <a:srgbClr val="1A468D"/>
                </a:solidFill>
              </a:rPr>
              <a:t>Данный проект нацелен на создание сквозной системы интеллектуального прогнозирования коррозии технологических трубопроводов НПЗ, основанной на синтезе данных и машинного обучения. Ключевая идея заключается в переходе от диагностики фактического состояния к прогнозной аналитике, позволяющей предсказывать развитие деградации оборудования и оптимизировать стратегии технического обслуживания.</a:t>
            </a:r>
            <a:endParaRPr lang="ru-RU" sz="1400" b="1" dirty="0">
              <a:solidFill>
                <a:srgbClr val="1A468D"/>
              </a:solidFill>
            </a:endParaRPr>
          </a:p>
          <a:p>
            <a:pPr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ru-RU" sz="1400" b="1" dirty="0">
                <a:solidFill>
                  <a:srgbClr val="1A468D"/>
                </a:solidFill>
              </a:rPr>
              <a:t>Методология и архитектура решения</a:t>
            </a:r>
          </a:p>
          <a:p>
            <a:pPr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ru-RU" sz="1400" dirty="0">
                <a:solidFill>
                  <a:srgbClr val="1A468D"/>
                </a:solidFill>
              </a:rPr>
              <a:t>В основе проекта лежит многоуровневая методология, последовательно интегрирующая:</a:t>
            </a:r>
            <a:endParaRPr lang="ru-RU" sz="1400" b="1" dirty="0">
              <a:solidFill>
                <a:srgbClr val="1A468D"/>
              </a:solidFill>
            </a:endParaRPr>
          </a:p>
          <a:p>
            <a:pPr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ru-RU" sz="1400" i="1" dirty="0">
                <a:solidFill>
                  <a:srgbClr val="1A468D"/>
                </a:solidFill>
              </a:rPr>
              <a:t>Автоматизированный сбор и первичная обработка данных: </a:t>
            </a:r>
            <a:r>
              <a:rPr lang="ru-RU" sz="1400" dirty="0">
                <a:solidFill>
                  <a:srgbClr val="1A468D"/>
                </a:solidFill>
              </a:rPr>
              <a:t>Внедрение мобильных решений и алгоритмов для обеспечения качества и доступности первичных данных </a:t>
            </a:r>
            <a:r>
              <a:rPr lang="ru-RU" sz="1400" dirty="0" err="1">
                <a:solidFill>
                  <a:srgbClr val="1A468D"/>
                </a:solidFill>
              </a:rPr>
              <a:t>толщинометрии</a:t>
            </a:r>
            <a:r>
              <a:rPr lang="ru-RU" sz="1400" dirty="0">
                <a:solidFill>
                  <a:srgbClr val="1A468D"/>
                </a:solidFill>
              </a:rPr>
              <a:t>.</a:t>
            </a:r>
            <a:endParaRPr lang="ru-RU" sz="1400" b="1" dirty="0">
              <a:solidFill>
                <a:srgbClr val="1A468D"/>
              </a:solidFill>
            </a:endParaRPr>
          </a:p>
          <a:p>
            <a:pPr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ru-RU" sz="1400" i="1" dirty="0">
                <a:solidFill>
                  <a:srgbClr val="1A468D"/>
                </a:solidFill>
              </a:rPr>
              <a:t>Глубокое обогащение данных: </a:t>
            </a:r>
            <a:r>
              <a:rPr lang="ru-RU" sz="1400" dirty="0">
                <a:solidFill>
                  <a:srgbClr val="1A468D"/>
                </a:solidFill>
              </a:rPr>
              <a:t>Разработка и расчет специализированных индексов, преобразующих сырые данные в информативные признаки для моделей машинного обучения.</a:t>
            </a:r>
          </a:p>
          <a:p>
            <a:pPr marL="0" indent="0">
              <a:buNone/>
            </a:pPr>
            <a:r>
              <a:rPr lang="ru-RU" sz="1400" i="1" dirty="0">
                <a:solidFill>
                  <a:srgbClr val="1A468D"/>
                </a:solidFill>
              </a:rPr>
              <a:t>Интеллектуальное прогнозирование:</a:t>
            </a:r>
            <a:r>
              <a:rPr lang="ru-RU" sz="1400" dirty="0">
                <a:solidFill>
                  <a:srgbClr val="1A468D"/>
                </a:solidFill>
              </a:rPr>
              <a:t> Построение и постоянное совершенствование прогнозных моделей, оценивающих скорость коррозии и остаточный ресурс оборудования.</a:t>
            </a:r>
          </a:p>
          <a:p>
            <a:pPr marL="0" indent="0">
              <a:lnSpc>
                <a:spcPct val="90000"/>
              </a:lnSpc>
              <a:spcBef>
                <a:spcPts val="1000"/>
              </a:spcBef>
              <a:buNone/>
            </a:pPr>
            <a:endParaRPr lang="ru-RU" sz="1400" b="1" dirty="0">
              <a:solidFill>
                <a:srgbClr val="1A468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7191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7">
            <a:extLst>
              <a:ext uri="{FF2B5EF4-FFF2-40B4-BE49-F238E27FC236}">
                <a16:creationId xmlns:a16="http://schemas.microsoft.com/office/drawing/2014/main" id="{CE33BEBF-0017-45DC-83EC-9B805CB570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34035" y="1221483"/>
            <a:ext cx="3886727" cy="405186"/>
          </a:xfrm>
        </p:spPr>
        <p:txBody>
          <a:bodyPr/>
          <a:lstStyle/>
          <a:p>
            <a:r>
              <a:rPr lang="ru-RU" dirty="0"/>
              <a:t>План-график реализации проекта</a:t>
            </a:r>
          </a:p>
          <a:p>
            <a:endParaRPr lang="ru-RU" dirty="0"/>
          </a:p>
        </p:txBody>
      </p:sp>
      <p:sp>
        <p:nvSpPr>
          <p:cNvPr id="22" name="Текст 7">
            <a:extLst>
              <a:ext uri="{FF2B5EF4-FFF2-40B4-BE49-F238E27FC236}">
                <a16:creationId xmlns:a16="http://schemas.microsoft.com/office/drawing/2014/main" id="{CE33BEBF-0017-45DC-83EC-9B805CB570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49366" y="1221483"/>
            <a:ext cx="3382748" cy="405186"/>
          </a:xfrm>
        </p:spPr>
        <p:txBody>
          <a:bodyPr/>
          <a:lstStyle/>
          <a:p>
            <a:r>
              <a:rPr lang="ru-RU" dirty="0"/>
              <a:t>Привлекаемые ресурсы</a:t>
            </a:r>
          </a:p>
          <a:p>
            <a:endParaRPr lang="ru-RU" dirty="0"/>
          </a:p>
        </p:txBody>
      </p:sp>
      <p:sp>
        <p:nvSpPr>
          <p:cNvPr id="23" name="Текст 5">
            <a:extLst>
              <a:ext uri="{FF2B5EF4-FFF2-40B4-BE49-F238E27FC236}">
                <a16:creationId xmlns:a16="http://schemas.microsoft.com/office/drawing/2014/main" id="{B0715760-7422-45EB-8CBE-31C8A2B799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96137" y="1626669"/>
            <a:ext cx="3382748" cy="4376932"/>
          </a:xfrm>
        </p:spPr>
        <p:txBody>
          <a:bodyPr/>
          <a:lstStyle/>
          <a:p>
            <a:r>
              <a:rPr lang="ru-RU" b="1" dirty="0"/>
              <a:t>Технические ресурсы: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Инфраструктура для развертывания системы</a:t>
            </a:r>
          </a:p>
          <a:p>
            <a:r>
              <a:rPr lang="ru-RU" b="1" dirty="0"/>
              <a:t>Кадровые ресурсы: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Специалисты по неразрушающему контролю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Эксперты по оценке надежности оборудования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Инженеры RBI для интеграции</a:t>
            </a:r>
          </a:p>
          <a:p>
            <a:r>
              <a:rPr lang="ru-RU" b="1" dirty="0"/>
              <a:t>Информационные ресурсы: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Данные </a:t>
            </a:r>
            <a:r>
              <a:rPr lang="ru-RU" dirty="0" err="1"/>
              <a:t>толщинометрии</a:t>
            </a:r>
            <a:r>
              <a:rPr lang="ru-RU" dirty="0"/>
              <a:t> с нескольких предприятий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Технологические регламенты и параметры сред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Исторические данные эксплуатации оборудования</a:t>
            </a:r>
          </a:p>
        </p:txBody>
      </p:sp>
      <p:sp>
        <p:nvSpPr>
          <p:cNvPr id="24" name="Текст 7">
            <a:extLst>
              <a:ext uri="{FF2B5EF4-FFF2-40B4-BE49-F238E27FC236}">
                <a16:creationId xmlns:a16="http://schemas.microsoft.com/office/drawing/2014/main" id="{CE33BEBF-0017-45DC-83EC-9B805CB570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207490" y="1188030"/>
            <a:ext cx="3382748" cy="1450280"/>
          </a:xfrm>
        </p:spPr>
        <p:txBody>
          <a:bodyPr/>
          <a:lstStyle/>
          <a:p>
            <a:r>
              <a:rPr lang="ru-RU" dirty="0"/>
              <a:t>Организация/предприятие реального сектора экономики, готовое организовать акселерацию проекта</a:t>
            </a:r>
          </a:p>
        </p:txBody>
      </p:sp>
      <p:sp>
        <p:nvSpPr>
          <p:cNvPr id="25" name="Текст 5">
            <a:extLst>
              <a:ext uri="{FF2B5EF4-FFF2-40B4-BE49-F238E27FC236}">
                <a16:creationId xmlns:a16="http://schemas.microsoft.com/office/drawing/2014/main" id="{B0715760-7422-45EB-8CBE-31C8A2B799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266312" y="2786063"/>
            <a:ext cx="3382748" cy="3359326"/>
          </a:xfrm>
        </p:spPr>
        <p:txBody>
          <a:bodyPr/>
          <a:lstStyle/>
          <a:p>
            <a:r>
              <a:rPr lang="ru-RU" dirty="0"/>
              <a:t>ООО "ЛУКОЙЛ-Инженерные Навыки и Компетенции"</a:t>
            </a:r>
          </a:p>
          <a:p>
            <a:endParaRPr lang="ru-RU" dirty="0"/>
          </a:p>
        </p:txBody>
      </p:sp>
      <p:sp>
        <p:nvSpPr>
          <p:cNvPr id="27" name="Заголовок 5">
            <a:extLst>
              <a:ext uri="{FF2B5EF4-FFF2-40B4-BE49-F238E27FC236}">
                <a16:creationId xmlns:a16="http://schemas.microsoft.com/office/drawing/2014/main" id="{3C71EE4E-0F40-4112-ADFB-8AEFEF48A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764" y="147144"/>
            <a:ext cx="7055318" cy="657744"/>
          </a:xfrm>
        </p:spPr>
        <p:txBody>
          <a:bodyPr/>
          <a:lstStyle/>
          <a:p>
            <a:r>
              <a:rPr lang="ru-RU" dirty="0"/>
              <a:t>План-график и привлекаемые ресурсы</a:t>
            </a: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3E4A21BE-2FD9-419C-AE7B-89B0804812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549854"/>
              </p:ext>
            </p:extLst>
          </p:nvPr>
        </p:nvGraphicFramePr>
        <p:xfrm>
          <a:off x="434034" y="1626669"/>
          <a:ext cx="3886727" cy="4519352"/>
        </p:xfrm>
        <a:graphic>
          <a:graphicData uri="http://schemas.openxmlformats.org/drawingml/2006/table">
            <a:tbl>
              <a:tblPr/>
              <a:tblGrid>
                <a:gridCol w="966433">
                  <a:extLst>
                    <a:ext uri="{9D8B030D-6E8A-4147-A177-3AD203B41FA5}">
                      <a16:colId xmlns:a16="http://schemas.microsoft.com/office/drawing/2014/main" val="2309392812"/>
                    </a:ext>
                  </a:extLst>
                </a:gridCol>
                <a:gridCol w="2920294">
                  <a:extLst>
                    <a:ext uri="{9D8B030D-6E8A-4147-A177-3AD203B41FA5}">
                      <a16:colId xmlns:a16="http://schemas.microsoft.com/office/drawing/2014/main" val="1920083620"/>
                    </a:ext>
                  </a:extLst>
                </a:gridCol>
              </a:tblGrid>
              <a:tr h="207956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ru-RU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Период</a:t>
                      </a:r>
                    </a:p>
                  </a:txBody>
                  <a:tcPr marL="25372" marR="42287" marT="26429" marB="26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ru-RU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Основные этапы</a:t>
                      </a:r>
                    </a:p>
                  </a:txBody>
                  <a:tcPr marL="42287" marR="42287" marT="26429" marB="26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105751"/>
                  </a:ext>
                </a:extLst>
              </a:tr>
              <a:tr h="472023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2025 (I </a:t>
                      </a:r>
                      <a:r>
                        <a:rPr lang="ru-RU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II </a:t>
                      </a:r>
                      <a:r>
                        <a:rPr lang="ru-RU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кв.)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ru-RU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1. Внедрение системы сбора данных (обеспечение качества первичных данных за счет интеграции разработанной системы фиксации измерений </a:t>
                      </a:r>
                      <a:r>
                        <a:rPr lang="ru-RU" sz="1100" kern="1200" dirty="0" err="1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толщинометрии</a:t>
                      </a:r>
                      <a:r>
                        <a:rPr lang="ru-RU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6177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2025 (III </a:t>
                      </a:r>
                      <a:r>
                        <a:rPr lang="ru-RU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IV </a:t>
                      </a:r>
                      <a:r>
                        <a:rPr lang="ru-RU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кв.)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ru-RU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2. Создание системы обогащения данных</a:t>
                      </a:r>
                      <a:br>
                        <a:rPr lang="ru-RU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ru-RU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(алгоритмы очистки от артефактов, расчет дополнительных индексов)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1927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2025 (IV </a:t>
                      </a:r>
                      <a:r>
                        <a:rPr lang="ru-RU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кв.)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ru-RU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. Построение и валидация базовых ML-моделей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9039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2026 (II </a:t>
                      </a:r>
                      <a:r>
                        <a:rPr lang="ru-RU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кв.)</a:t>
                      </a:r>
                    </a:p>
                    <a:p>
                      <a:pPr mar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endParaRPr lang="ru-RU" sz="1100" kern="1200" dirty="0">
                        <a:solidFill>
                          <a:srgbClr val="1A468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ru-RU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. Оптимизация и расширение моделей (расширение </a:t>
                      </a:r>
                      <a:r>
                        <a:rPr lang="ru-RU" sz="1100" kern="1200" dirty="0" err="1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датасета</a:t>
                      </a:r>
                      <a:r>
                        <a:rPr lang="ru-RU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, апробация методов прогнозирования</a:t>
                      </a:r>
                      <a:r>
                        <a:rPr lang="en-US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ru-RU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достижение целевых метрик: R² ≥ 0.75)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0509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2026 (III </a:t>
                      </a:r>
                      <a:r>
                        <a:rPr lang="ru-RU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кв.)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ru-RU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. Разработка программного прототипа</a:t>
                      </a:r>
                      <a:br>
                        <a:rPr lang="ru-RU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ru-RU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(создание API для интеграции с системами RBI, разработка веб-интерфейса визуализации)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5109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2026 (IV </a:t>
                      </a:r>
                      <a:r>
                        <a:rPr lang="ru-RU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кв.)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lang="ru-RU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. Пилотное внедрение и верификация</a:t>
                      </a:r>
                      <a:br>
                        <a:rPr lang="ru-RU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ru-RU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(апробация полного цикла на реальном оборудовании, оценка экономического эффекта)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86469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1246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B4CE4CF5-E884-4CEC-A7C8-FE5BF9C5A0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4668" y="1221483"/>
            <a:ext cx="5334497" cy="405186"/>
          </a:xfrm>
        </p:spPr>
        <p:txBody>
          <a:bodyPr/>
          <a:lstStyle/>
          <a:p>
            <a:r>
              <a:rPr lang="ru-RU" dirty="0"/>
              <a:t>Достижения по тематике проекта</a:t>
            </a:r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B0715760-7422-45EB-8CBE-31C8A2B799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8875" y="1766174"/>
            <a:ext cx="10557740" cy="4376932"/>
          </a:xfrm>
        </p:spPr>
        <p:txBody>
          <a:bodyPr/>
          <a:lstStyle/>
          <a:p>
            <a:r>
              <a:rPr lang="ru-RU" dirty="0"/>
              <a:t>(Перечисляются патенты, публикации в рецензируемых изданиях согласно утвержденному ВАК перечню рецензируемых научных изданий </a:t>
            </a:r>
            <a:r>
              <a:rPr lang="en" dirty="0"/>
              <a:t>https://</a:t>
            </a:r>
            <a:r>
              <a:rPr lang="en" dirty="0" err="1"/>
              <a:t>vak.minobrnauki.gov.ru</a:t>
            </a:r>
            <a:r>
              <a:rPr lang="en" dirty="0"/>
              <a:t>/</a:t>
            </a:r>
            <a:r>
              <a:rPr lang="en" dirty="0" err="1"/>
              <a:t>documents#tab</a:t>
            </a:r>
            <a:r>
              <a:rPr lang="en" dirty="0"/>
              <a:t>=_</a:t>
            </a:r>
            <a:r>
              <a:rPr lang="en" dirty="0" err="1"/>
              <a:t>tab:editions</a:t>
            </a:r>
            <a:r>
              <a:rPr lang="en" dirty="0"/>
              <a:t>~, </a:t>
            </a:r>
            <a:r>
              <a:rPr lang="ru-RU" dirty="0"/>
              <a:t>иное)</a:t>
            </a:r>
          </a:p>
          <a:p>
            <a:r>
              <a:rPr lang="en-US" i="1" dirty="0"/>
              <a:t>*</a:t>
            </a:r>
            <a:r>
              <a:rPr lang="ru-RU" i="1" dirty="0"/>
              <a:t>Поле обязательно к заполнению аспирантами на отборочном этапе, всеми участниками конкурса на финале</a:t>
            </a:r>
          </a:p>
          <a:p>
            <a:r>
              <a:rPr lang="ru-RU" i="1" dirty="0"/>
              <a:t>1. Косякин В.В., Глухов А.В., </a:t>
            </a:r>
            <a:r>
              <a:rPr lang="ru-RU" i="1" dirty="0" err="1"/>
              <a:t>Копалиди</a:t>
            </a:r>
            <a:r>
              <a:rPr lang="ru-RU" i="1" dirty="0"/>
              <a:t> Е.И. и др. Свидетельство о государственной регистрации программы для </a:t>
            </a:r>
          </a:p>
          <a:p>
            <a:r>
              <a:rPr lang="ru-RU" i="1" dirty="0"/>
              <a:t>ЭВМ № 2024687646 (РФ).</a:t>
            </a:r>
          </a:p>
          <a:p>
            <a:r>
              <a:rPr lang="ru-RU" i="1" dirty="0"/>
              <a:t>2. Косякин В.В., Глухов А.В., </a:t>
            </a:r>
            <a:r>
              <a:rPr lang="ru-RU" i="1" dirty="0" err="1"/>
              <a:t>Копалиди</a:t>
            </a:r>
            <a:r>
              <a:rPr lang="ru-RU" i="1" dirty="0"/>
              <a:t> Е.И. и др. Разработка и применение мобильного приложения </a:t>
            </a:r>
          </a:p>
          <a:p>
            <a:r>
              <a:rPr lang="ru-RU" i="1" dirty="0"/>
              <a:t>«МОБИТЕХ» для повышения оперативности и точности оценки показателей </a:t>
            </a:r>
            <a:r>
              <a:rPr lang="ru-RU" i="1" dirty="0" err="1"/>
              <a:t>толщинометрии</a:t>
            </a:r>
            <a:r>
              <a:rPr lang="ru-RU" i="1" dirty="0"/>
              <a:t> статического </a:t>
            </a:r>
          </a:p>
          <a:p>
            <a:r>
              <a:rPr lang="ru-RU" i="1" dirty="0"/>
              <a:t>оборудования // Химия и технология топлив и масел: научно-технический журнал. 2024. № 5. С. 20–22.</a:t>
            </a:r>
          </a:p>
          <a:p>
            <a:r>
              <a:rPr lang="ru-RU" i="1" dirty="0"/>
              <a:t>3. Косякин В.В., </a:t>
            </a:r>
            <a:r>
              <a:rPr lang="ru-RU" i="1" dirty="0" err="1"/>
              <a:t>Хранилов</a:t>
            </a:r>
            <a:r>
              <a:rPr lang="ru-RU" i="1" dirty="0"/>
              <a:t> В.П., АВТОМАТИЗИРОВАННАЯ СИСТЕМА МОНИТОРИНГА </a:t>
            </a:r>
          </a:p>
          <a:p>
            <a:r>
              <a:rPr lang="ru-RU" i="1" dirty="0"/>
              <a:t>И АНАЛИЗА ДАННЫХ ТОЛЩИНОМЕТРИИ </a:t>
            </a:r>
            <a:r>
              <a:rPr lang="en-US" i="1" dirty="0"/>
              <a:t>//</a:t>
            </a:r>
            <a:r>
              <a:rPr lang="ru-RU" i="1" dirty="0"/>
              <a:t>Математические методы в технологиях и технике</a:t>
            </a:r>
            <a:r>
              <a:rPr lang="en-US" i="1" dirty="0"/>
              <a:t>. 2025. № 6 </a:t>
            </a:r>
            <a:r>
              <a:rPr lang="ru-RU" i="1" dirty="0"/>
              <a:t>С. </a:t>
            </a:r>
            <a:r>
              <a:rPr lang="en-US" i="1" dirty="0"/>
              <a:t>13</a:t>
            </a:r>
            <a:r>
              <a:rPr lang="ru-RU" i="1" dirty="0"/>
              <a:t>–</a:t>
            </a:r>
            <a:r>
              <a:rPr lang="en-US" i="1" dirty="0"/>
              <a:t>18</a:t>
            </a:r>
            <a:endParaRPr lang="ru-RU" i="1" dirty="0"/>
          </a:p>
        </p:txBody>
      </p:sp>
      <p:sp>
        <p:nvSpPr>
          <p:cNvPr id="10" name="Заголовок 5">
            <a:extLst>
              <a:ext uri="{FF2B5EF4-FFF2-40B4-BE49-F238E27FC236}">
                <a16:creationId xmlns:a16="http://schemas.microsoft.com/office/drawing/2014/main" id="{3C71EE4E-0F40-4112-ADFB-8AEFEF48A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764" y="147144"/>
            <a:ext cx="7055318" cy="657744"/>
          </a:xfrm>
        </p:spPr>
        <p:txBody>
          <a:bodyPr/>
          <a:lstStyle/>
          <a:p>
            <a:r>
              <a:rPr lang="ru-RU" dirty="0"/>
              <a:t>Достижения</a:t>
            </a:r>
          </a:p>
        </p:txBody>
      </p:sp>
    </p:spTree>
    <p:extLst>
      <p:ext uri="{BB962C8B-B14F-4D97-AF65-F5344CB8AC3E}">
        <p14:creationId xmlns:p14="http://schemas.microsoft.com/office/powerpoint/2010/main" val="1625121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F55F4DA6-9028-4545-82AA-A50889F761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2183" y="1056992"/>
            <a:ext cx="5328000" cy="405186"/>
          </a:xfrm>
        </p:spPr>
        <p:txBody>
          <a:bodyPr/>
          <a:lstStyle/>
          <a:p>
            <a:r>
              <a:rPr lang="ru-RU" dirty="0"/>
              <a:t>Заключение и выводы</a:t>
            </a:r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3C71EE4E-0F40-4112-ADFB-8AEFEF48A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764" y="147144"/>
            <a:ext cx="7055318" cy="657744"/>
          </a:xfrm>
        </p:spPr>
        <p:txBody>
          <a:bodyPr/>
          <a:lstStyle/>
          <a:p>
            <a:r>
              <a:rPr lang="ru-RU" dirty="0"/>
              <a:t>Заключение и выводы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3C382DEB-EC35-41B8-9218-9C4D98259FCC}"/>
              </a:ext>
            </a:extLst>
          </p:cNvPr>
          <p:cNvSpPr txBox="1">
            <a:spLocks/>
          </p:cNvSpPr>
          <p:nvPr/>
        </p:nvSpPr>
        <p:spPr>
          <a:xfrm>
            <a:off x="472183" y="1424076"/>
            <a:ext cx="10557740" cy="43769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/>
              <a:t>Достигнутые результаты:</a:t>
            </a:r>
          </a:p>
          <a:p>
            <a:r>
              <a:rPr lang="ru-RU" sz="1600" dirty="0"/>
              <a:t>Разработана и верифицирована методология автоматизированной подготовки данных для прогнозирования коррозии, включая систему расчета специализированных индексов агрессивности сред и коррозионной стойкости материалов.</a:t>
            </a:r>
          </a:p>
          <a:p>
            <a:r>
              <a:rPr lang="ru-RU" sz="1600" dirty="0"/>
              <a:t>Создан прототип прогнозной модели на основе ансамблевых алгоритмов машинного обучения, демонстрирующий статистически значимую точность на реальных промышленных данных.</a:t>
            </a:r>
          </a:p>
          <a:p>
            <a:r>
              <a:rPr lang="ru-RU" sz="1600" dirty="0"/>
              <a:t>Экспериментально подтверждена эффективность предложенного подхода и выявлены ключевые факторы влияния на коррозионные процессы, что составляет научную новизну исследования.</a:t>
            </a:r>
          </a:p>
          <a:p>
            <a:pPr marL="0" indent="0">
              <a:buNone/>
            </a:pPr>
            <a:r>
              <a:rPr lang="ru-RU" sz="1600" b="1" dirty="0"/>
              <a:t>Перспективы развития проекта:</a:t>
            </a:r>
          </a:p>
          <a:p>
            <a:r>
              <a:rPr lang="ru-RU" sz="1600" dirty="0"/>
              <a:t>Повышение точности прогнозов за счет внедрения методов градиентного </a:t>
            </a:r>
            <a:r>
              <a:rPr lang="ru-RU" sz="1600" dirty="0" err="1"/>
              <a:t>бустинга</a:t>
            </a:r>
            <a:r>
              <a:rPr lang="ru-RU" sz="1600" dirty="0"/>
              <a:t> и глубоких нейронных сетей для моделирования сложных нелинейных зависимостей.</a:t>
            </a:r>
          </a:p>
          <a:p>
            <a:r>
              <a:rPr lang="ru-RU" sz="1600" dirty="0"/>
              <a:t>Расширение валидации разработанных моделей на данных других нефтеперерабатывающих предприятий для оценки универсальности методологии.</a:t>
            </a:r>
          </a:p>
          <a:p>
            <a:r>
              <a:rPr lang="ru-RU" sz="1600" dirty="0"/>
              <a:t>Интеграция системы с корпоративными платформами RBI и управления активами для опытной эксплуатации в промышленных условиях.</a:t>
            </a:r>
          </a:p>
        </p:txBody>
      </p:sp>
    </p:spTree>
    <p:extLst>
      <p:ext uri="{BB962C8B-B14F-4D97-AF65-F5344CB8AC3E}">
        <p14:creationId xmlns:p14="http://schemas.microsoft.com/office/powerpoint/2010/main" val="20411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Текст 16">
            <a:extLst>
              <a:ext uri="{FF2B5EF4-FFF2-40B4-BE49-F238E27FC236}">
                <a16:creationId xmlns:a16="http://schemas.microsoft.com/office/drawing/2014/main" id="{9472852A-76F7-4C94-9F3E-38A9FA4D3A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БЛАГОДАРЮ ЗА ВНИМАНИЕ!</a:t>
            </a: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5AC49201-F2AA-4E39-B988-F0577D5BBC0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8565" y="1549771"/>
            <a:ext cx="5588851" cy="336579"/>
          </a:xfrm>
        </p:spPr>
        <p:txBody>
          <a:bodyPr/>
          <a:lstStyle/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</a:rPr>
              <a:t>Разработка моделей интеллектуальной диагностики и прогнозирования коррозионного износа критических участков трубопроводного 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ru-RU" sz="2400" dirty="0">
                <a:solidFill>
                  <a:schemeClr val="bg1"/>
                </a:solidFill>
              </a:rPr>
              <a:t>оборудования нефтеперерабатывающих предприятий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8377CDFB-EF8B-489A-BCD9-02A4697BA60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8565" y="4426234"/>
            <a:ext cx="4948874" cy="30480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600" dirty="0">
                <a:solidFill>
                  <a:schemeClr val="bg1"/>
                </a:solidFill>
              </a:rPr>
              <a:t>Косякин Владимир Владиславович</a:t>
            </a: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8A11B40D-4061-4C12-817A-6FA9313A577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565" y="4721243"/>
            <a:ext cx="4948874" cy="362115"/>
          </a:xfrm>
        </p:spPr>
        <p:txBody>
          <a:bodyPr/>
          <a:lstStyle/>
          <a:p>
            <a:pPr marL="0" indent="0">
              <a:buNone/>
            </a:pPr>
            <a:r>
              <a:rPr lang="ru-RU" sz="1600" dirty="0">
                <a:solidFill>
                  <a:schemeClr val="bg1"/>
                </a:solidFill>
              </a:rPr>
              <a:t>НГТУ им. Р.Е. Алексеева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9EE7883C-2C90-2D49-A057-8E3CEC2715C4}"/>
              </a:ext>
            </a:extLst>
          </p:cNvPr>
          <p:cNvSpPr txBox="1">
            <a:spLocks/>
          </p:cNvSpPr>
          <p:nvPr/>
        </p:nvSpPr>
        <p:spPr>
          <a:xfrm>
            <a:off x="9594419" y="6272980"/>
            <a:ext cx="1760370" cy="4189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800" kern="1200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rPr>
              <a:t>202</a:t>
            </a:r>
            <a:r>
              <a:rPr lang="ru-RU" sz="1800" kern="1200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rPr>
              <a:t>5</a:t>
            </a:r>
            <a:r>
              <a:rPr lang="en-US" sz="1800" kern="1200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rPr>
              <a:t> </a:t>
            </a:r>
            <a:r>
              <a:rPr lang="ru-RU" sz="1800" kern="1200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rPr>
              <a:t>год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819BDAD4-48C5-7F47-A1B5-81BEB035FBF6}"/>
              </a:ext>
            </a:extLst>
          </p:cNvPr>
          <p:cNvSpPr txBox="1">
            <a:spLocks/>
          </p:cNvSpPr>
          <p:nvPr/>
        </p:nvSpPr>
        <p:spPr>
          <a:xfrm>
            <a:off x="658565" y="6272980"/>
            <a:ext cx="7472912" cy="4189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800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rPr>
              <a:t>Всероссийский инженерный конкурс</a:t>
            </a:r>
          </a:p>
        </p:txBody>
      </p:sp>
      <p:sp>
        <p:nvSpPr>
          <p:cNvPr id="10" name="Текст 19">
            <a:extLst>
              <a:ext uri="{FF2B5EF4-FFF2-40B4-BE49-F238E27FC236}">
                <a16:creationId xmlns:a16="http://schemas.microsoft.com/office/drawing/2014/main" id="{5F7D6AE5-9D72-804E-A86D-EBDFFB592E77}"/>
              </a:ext>
            </a:extLst>
          </p:cNvPr>
          <p:cNvSpPr txBox="1">
            <a:spLocks/>
          </p:cNvSpPr>
          <p:nvPr/>
        </p:nvSpPr>
        <p:spPr>
          <a:xfrm>
            <a:off x="658565" y="5857392"/>
            <a:ext cx="10482942" cy="36211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dirty="0">
                <a:solidFill>
                  <a:schemeClr val="bg1"/>
                </a:solidFill>
              </a:rPr>
              <a:t>Уровень образования: аспирантура</a:t>
            </a:r>
          </a:p>
        </p:txBody>
      </p:sp>
      <p:sp>
        <p:nvSpPr>
          <p:cNvPr id="11" name="Текст 19">
            <a:extLst>
              <a:ext uri="{FF2B5EF4-FFF2-40B4-BE49-F238E27FC236}">
                <a16:creationId xmlns:a16="http://schemas.microsoft.com/office/drawing/2014/main" id="{F319A504-7A55-3F48-9F85-6EBCDCAF910D}"/>
              </a:ext>
            </a:extLst>
          </p:cNvPr>
          <p:cNvSpPr txBox="1">
            <a:spLocks/>
          </p:cNvSpPr>
          <p:nvPr/>
        </p:nvSpPr>
        <p:spPr>
          <a:xfrm>
            <a:off x="658565" y="5495277"/>
            <a:ext cx="4948874" cy="36211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dirty="0">
                <a:solidFill>
                  <a:schemeClr val="bg1"/>
                </a:solidFill>
              </a:rPr>
              <a:t>Курс обучения: второй</a:t>
            </a:r>
          </a:p>
        </p:txBody>
      </p:sp>
      <p:sp>
        <p:nvSpPr>
          <p:cNvPr id="19" name="Текст 17">
            <a:extLst>
              <a:ext uri="{FF2B5EF4-FFF2-40B4-BE49-F238E27FC236}">
                <a16:creationId xmlns:a16="http://schemas.microsoft.com/office/drawing/2014/main" id="{DD144F73-1C6A-4B86-9147-A7909AC4F90F}"/>
              </a:ext>
            </a:extLst>
          </p:cNvPr>
          <p:cNvSpPr txBox="1">
            <a:spLocks/>
          </p:cNvSpPr>
          <p:nvPr/>
        </p:nvSpPr>
        <p:spPr>
          <a:xfrm>
            <a:off x="835546" y="4666849"/>
            <a:ext cx="4948874" cy="304801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102954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вик">
      <a:dk1>
        <a:srgbClr val="1A468D"/>
      </a:dk1>
      <a:lt1>
        <a:srgbClr val="FFFFFF"/>
      </a:lt1>
      <a:dk2>
        <a:srgbClr val="1A468D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ВИК_Робото-конд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1270</TotalTime>
  <Words>1303</Words>
  <Application>Microsoft Office PowerPoint</Application>
  <PresentationFormat>Широкоэкранный</PresentationFormat>
  <Paragraphs>102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Calibri</vt:lpstr>
      <vt:lpstr>Roboto Condensed</vt:lpstr>
      <vt:lpstr>Arial</vt:lpstr>
      <vt:lpstr>Тема Office</vt:lpstr>
      <vt:lpstr>Презентация PowerPoint</vt:lpstr>
      <vt:lpstr>Актуальность и ожидаемые результаты</vt:lpstr>
      <vt:lpstr>Новизна и практическая значимость</vt:lpstr>
      <vt:lpstr>Описание проекта</vt:lpstr>
      <vt:lpstr>План-график и привлекаемые ресурсы</vt:lpstr>
      <vt:lpstr>Достижения</vt:lpstr>
      <vt:lpstr>Заключение и выводы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Владимир Косякин</cp:lastModifiedBy>
  <cp:revision>101</cp:revision>
  <dcterms:created xsi:type="dcterms:W3CDTF">2021-10-15T21:48:49Z</dcterms:created>
  <dcterms:modified xsi:type="dcterms:W3CDTF">2025-11-23T16:50:47Z</dcterms:modified>
</cp:coreProperties>
</file>